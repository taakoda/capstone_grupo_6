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12192000"/>
  <p:notesSz cx="6858000" cy="9144000"/>
  <p:embeddedFontLst>
    <p:embeddedFont>
      <p:font typeface="Inter"/>
      <p:regular r:id="rId17"/>
      <p:bold r:id="rId18"/>
      <p:italic r:id="rId19"/>
      <p:boldItalic r:id="rId20"/>
    </p:embeddedFont>
    <p:embeddedFont>
      <p:font typeface="Space Grotesk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3" roundtripDataSignature="AMtx7mgWu8goQaMRcyHHZEBQHwwnmcbe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0314508-C62A-4D3F-B759-CC8EE53C0710}">
  <a:tblStyle styleId="{50314508-C62A-4D3F-B759-CC8EE53C071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Italic.fntdata"/><Relationship Id="rId11" Type="http://schemas.openxmlformats.org/officeDocument/2006/relationships/slide" Target="slides/slide5.xml"/><Relationship Id="rId22" Type="http://schemas.openxmlformats.org/officeDocument/2006/relationships/font" Target="fonts/SpaceGrotesk-bold.fntdata"/><Relationship Id="rId10" Type="http://schemas.openxmlformats.org/officeDocument/2006/relationships/slide" Target="slides/slide4.xml"/><Relationship Id="rId21" Type="http://schemas.openxmlformats.org/officeDocument/2006/relationships/font" Target="fonts/SpaceGrotesk-regular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Inter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Inter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Inter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5" Type="http://schemas.openxmlformats.org/officeDocument/2006/relationships/image" Target="../media/image8.png"/><Relationship Id="rId6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5791200" y="4485425"/>
            <a:ext cx="6096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5203801" y="2363475"/>
            <a:ext cx="1784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200" u="none" cap="none" strike="noStrik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PROYECTO CAPSTONE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-285750" y="2695575"/>
            <a:ext cx="127635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60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KalliCode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5579248" y="3762375"/>
            <a:ext cx="1033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1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Fase 2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572000" y="5679050"/>
            <a:ext cx="575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200" u="none" cap="none" strike="noStrik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Docente: José Luis Pino Cofre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200" u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Integrantes: José Lagos, Dan Retamal, Macarena Silva, Juan José Millares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4314825" y="2726837"/>
            <a:ext cx="3352800" cy="2371800"/>
          </a:xfrm>
          <a:prstGeom prst="roundRect">
            <a:avLst>
              <a:gd fmla="val 6425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838050" y="2726824"/>
            <a:ext cx="3352800" cy="2371800"/>
          </a:xfrm>
          <a:prstGeom prst="roundRect">
            <a:avLst>
              <a:gd fmla="val 6425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8085550" y="2726862"/>
            <a:ext cx="3352800" cy="2371800"/>
          </a:xfrm>
          <a:prstGeom prst="roundRect">
            <a:avLst>
              <a:gd fmla="val 6425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6" name="Google Shape;9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00725" y="318403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23950" y="3184024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3825" y="3184062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/>
          <p:nvPr/>
        </p:nvSpPr>
        <p:spPr>
          <a:xfrm>
            <a:off x="-285750" y="609600"/>
            <a:ext cx="127635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050" u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EVOLUCIÓN DEL PROYECTO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-285750" y="885825"/>
            <a:ext cx="127635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3600" u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Ajustes y Retroalimentación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4191000" y="3793637"/>
            <a:ext cx="3600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800" u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Desafío LLM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4276725" y="4241312"/>
            <a:ext cx="342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350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Manejo estricto de concurrencia asíncrona.</a:t>
            </a:r>
            <a:endParaRPr/>
          </a:p>
        </p:txBody>
      </p:sp>
      <p:sp>
        <p:nvSpPr>
          <p:cNvPr id="103" name="Google Shape;103;p2"/>
          <p:cNvSpPr txBox="1"/>
          <p:nvPr/>
        </p:nvSpPr>
        <p:spPr>
          <a:xfrm>
            <a:off x="714225" y="3793624"/>
            <a:ext cx="3600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800" u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Ajuste Técnico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799950" y="4241299"/>
            <a:ext cx="3429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350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Recuperación vectorial en dos fases.</a:t>
            </a:r>
            <a:endParaRPr/>
          </a:p>
        </p:txBody>
      </p:sp>
      <p:sp>
        <p:nvSpPr>
          <p:cNvPr id="105" name="Google Shape;105;p2"/>
          <p:cNvSpPr txBox="1"/>
          <p:nvPr/>
        </p:nvSpPr>
        <p:spPr>
          <a:xfrm>
            <a:off x="7961725" y="3793662"/>
            <a:ext cx="3600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800" u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Retroalimentación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8047450" y="4241337"/>
            <a:ext cx="3429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350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Validación temprana de aislamiento RLS.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"/>
          <p:cNvSpPr/>
          <p:nvPr/>
        </p:nvSpPr>
        <p:spPr>
          <a:xfrm>
            <a:off x="5486400" y="1457325"/>
            <a:ext cx="5943600" cy="3943350"/>
          </a:xfrm>
          <a:prstGeom prst="roundRect">
            <a:avLst>
              <a:gd fmla="val 386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5953125" y="2476500"/>
            <a:ext cx="2390775" cy="1114425"/>
          </a:xfrm>
          <a:prstGeom prst="roundRect">
            <a:avLst>
              <a:gd fmla="val 683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8572500" y="2476500"/>
            <a:ext cx="2390775" cy="1114425"/>
          </a:xfrm>
          <a:prstGeom prst="roundRect">
            <a:avLst>
              <a:gd fmla="val 683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5953125" y="3819525"/>
            <a:ext cx="2390775" cy="1114425"/>
          </a:xfrm>
          <a:prstGeom prst="roundRect">
            <a:avLst>
              <a:gd fmla="val 683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8572500" y="3819525"/>
            <a:ext cx="2390775" cy="1114425"/>
          </a:xfrm>
          <a:prstGeom prst="roundRect">
            <a:avLst>
              <a:gd fmla="val 683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5953125" y="2476500"/>
            <a:ext cx="38100" cy="11144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8572500" y="2476500"/>
            <a:ext cx="38100" cy="11144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5953125" y="3819525"/>
            <a:ext cx="38100" cy="11144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8572500" y="3819525"/>
            <a:ext cx="38100" cy="111442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0" name="Google Shape;12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3522315"/>
            <a:ext cx="2286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551015"/>
            <a:ext cx="200025" cy="485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3"/>
          <p:cNvSpPr txBox="1"/>
          <p:nvPr/>
        </p:nvSpPr>
        <p:spPr>
          <a:xfrm>
            <a:off x="762000" y="1821209"/>
            <a:ext cx="5334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050" u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ORGANIZACIÓN ÁGIL</a:t>
            </a:r>
            <a:endParaRPr/>
          </a:p>
        </p:txBody>
      </p:sp>
      <p:sp>
        <p:nvSpPr>
          <p:cNvPr id="123" name="Google Shape;123;p3"/>
          <p:cNvSpPr txBox="1"/>
          <p:nvPr/>
        </p:nvSpPr>
        <p:spPr>
          <a:xfrm>
            <a:off x="762000" y="2097434"/>
            <a:ext cx="4580572" cy="1005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3600" u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Metodología Scrum</a:t>
            </a:r>
            <a:endParaRPr/>
          </a:p>
        </p:txBody>
      </p:sp>
      <p:sp>
        <p:nvSpPr>
          <p:cNvPr id="124" name="Google Shape;124;p3"/>
          <p:cNvSpPr txBox="1"/>
          <p:nvPr/>
        </p:nvSpPr>
        <p:spPr>
          <a:xfrm>
            <a:off x="5170289" y="1924050"/>
            <a:ext cx="6575821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500" u="none">
                <a:solidFill>
                  <a:srgbClr val="64748B"/>
                </a:solidFill>
                <a:latin typeface="Space Grotesk"/>
                <a:ea typeface="Space Grotesk"/>
                <a:cs typeface="Space Grotesk"/>
                <a:sym typeface="Space Grotesk"/>
              </a:rPr>
              <a:t>EQUIPO TRANSVERSAL (4 INTEGRANTES)</a:t>
            </a:r>
            <a:endParaRPr/>
          </a:p>
        </p:txBody>
      </p:sp>
      <p:sp>
        <p:nvSpPr>
          <p:cNvPr id="125" name="Google Shape;125;p3"/>
          <p:cNvSpPr txBox="1"/>
          <p:nvPr/>
        </p:nvSpPr>
        <p:spPr>
          <a:xfrm>
            <a:off x="1143000" y="3484215"/>
            <a:ext cx="5100637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500" u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Sprints Semanales</a:t>
            </a:r>
            <a:endParaRPr/>
          </a:p>
        </p:txBody>
      </p:sp>
      <p:sp>
        <p:nvSpPr>
          <p:cNvPr id="126" name="Google Shape;126;p3"/>
          <p:cNvSpPr txBox="1"/>
          <p:nvPr/>
        </p:nvSpPr>
        <p:spPr>
          <a:xfrm>
            <a:off x="1143000" y="3808065"/>
            <a:ext cx="3981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350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12 iteraciones con Planning, Daily, Review y Retrospectiva.</a:t>
            </a:r>
            <a:endParaRPr/>
          </a:p>
        </p:txBody>
      </p:sp>
      <p:sp>
        <p:nvSpPr>
          <p:cNvPr id="127" name="Google Shape;127;p3"/>
          <p:cNvSpPr txBox="1"/>
          <p:nvPr/>
        </p:nvSpPr>
        <p:spPr>
          <a:xfrm>
            <a:off x="1114425" y="4512915"/>
            <a:ext cx="5075634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500" u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Definición de Terminado (DoD)</a:t>
            </a:r>
            <a:endParaRPr/>
          </a:p>
        </p:txBody>
      </p:sp>
      <p:sp>
        <p:nvSpPr>
          <p:cNvPr id="128" name="Google Shape;128;p3"/>
          <p:cNvSpPr txBox="1"/>
          <p:nvPr/>
        </p:nvSpPr>
        <p:spPr>
          <a:xfrm>
            <a:off x="1114425" y="4836765"/>
            <a:ext cx="483393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350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Pruebas en verde y revisión de código estricta.</a:t>
            </a:r>
            <a:endParaRPr/>
          </a:p>
        </p:txBody>
      </p:sp>
      <p:sp>
        <p:nvSpPr>
          <p:cNvPr id="129" name="Google Shape;129;p3"/>
          <p:cNvSpPr txBox="1"/>
          <p:nvPr/>
        </p:nvSpPr>
        <p:spPr>
          <a:xfrm>
            <a:off x="6461987" y="2472971"/>
            <a:ext cx="1600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350" u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Juan Millares</a:t>
            </a:r>
            <a:endParaRPr/>
          </a:p>
        </p:txBody>
      </p:sp>
      <p:sp>
        <p:nvSpPr>
          <p:cNvPr id="130" name="Google Shape;130;p3"/>
          <p:cNvSpPr txBox="1"/>
          <p:nvPr/>
        </p:nvSpPr>
        <p:spPr>
          <a:xfrm>
            <a:off x="9355527" y="2517600"/>
            <a:ext cx="114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350" u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José Lagos</a:t>
            </a:r>
            <a:endParaRPr/>
          </a:p>
        </p:txBody>
      </p:sp>
      <p:sp>
        <p:nvSpPr>
          <p:cNvPr id="131" name="Google Shape;131;p3"/>
          <p:cNvSpPr txBox="1"/>
          <p:nvPr/>
        </p:nvSpPr>
        <p:spPr>
          <a:xfrm>
            <a:off x="6615173" y="3914757"/>
            <a:ext cx="1373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350" u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Dan Retamal</a:t>
            </a:r>
            <a:endParaRPr/>
          </a:p>
        </p:txBody>
      </p:sp>
      <p:sp>
        <p:nvSpPr>
          <p:cNvPr id="132" name="Google Shape;132;p3"/>
          <p:cNvSpPr txBox="1"/>
          <p:nvPr/>
        </p:nvSpPr>
        <p:spPr>
          <a:xfrm>
            <a:off x="9120452" y="3844125"/>
            <a:ext cx="1486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350" u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Macarena Silva</a:t>
            </a:r>
            <a:endParaRPr/>
          </a:p>
        </p:txBody>
      </p:sp>
      <p:sp>
        <p:nvSpPr>
          <p:cNvPr id="133" name="Google Shape;133;p3"/>
          <p:cNvSpPr txBox="1"/>
          <p:nvPr/>
        </p:nvSpPr>
        <p:spPr>
          <a:xfrm>
            <a:off x="6200777" y="2731160"/>
            <a:ext cx="1990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2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   SCRUM Master/ Developer Backend</a:t>
            </a:r>
            <a:endParaRPr b="0" i="0" sz="1200" u="none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4" name="Google Shape;134;p3"/>
          <p:cNvSpPr txBox="1"/>
          <p:nvPr/>
        </p:nvSpPr>
        <p:spPr>
          <a:xfrm>
            <a:off x="8853487" y="4090694"/>
            <a:ext cx="1990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latin typeface="Calibri"/>
                <a:ea typeface="Calibri"/>
                <a:cs typeface="Calibri"/>
                <a:sym typeface="Calibri"/>
              </a:rPr>
              <a:t>Desarrollador Frontend</a:t>
            </a:r>
            <a:endParaRPr b="0" i="0" sz="1200" u="none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5" name="Google Shape;135;p3"/>
          <p:cNvSpPr txBox="1"/>
          <p:nvPr/>
        </p:nvSpPr>
        <p:spPr>
          <a:xfrm>
            <a:off x="6212117" y="4165148"/>
            <a:ext cx="1990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latin typeface="Calibri"/>
                <a:ea typeface="Calibri"/>
                <a:cs typeface="Calibri"/>
                <a:sym typeface="Calibri"/>
              </a:rPr>
              <a:t>Developer Backend</a:t>
            </a:r>
            <a:endParaRPr b="0" i="0" sz="1200" u="none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" name="Google Shape;136;p3"/>
          <p:cNvSpPr txBox="1"/>
          <p:nvPr/>
        </p:nvSpPr>
        <p:spPr>
          <a:xfrm>
            <a:off x="8872537" y="2731152"/>
            <a:ext cx="1990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latin typeface="Calibri"/>
                <a:ea typeface="Calibri"/>
                <a:cs typeface="Calibri"/>
                <a:sym typeface="Calibri"/>
              </a:rPr>
              <a:t>        </a:t>
            </a:r>
            <a:r>
              <a:rPr b="0" i="0" lang="es-CL" sz="12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1200" u="none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7" name="Google Shape;137;p3"/>
          <p:cNvSpPr txBox="1"/>
          <p:nvPr/>
        </p:nvSpPr>
        <p:spPr>
          <a:xfrm>
            <a:off x="6204949" y="3062991"/>
            <a:ext cx="214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latin typeface="Calibri"/>
                <a:ea typeface="Calibri"/>
                <a:cs typeface="Calibri"/>
                <a:sym typeface="Calibri"/>
              </a:rPr>
              <a:t>Lider que apoya a los demas integrantes de kallicode, facilitandole el marco de metodologia agil</a:t>
            </a:r>
            <a:endParaRPr b="0" i="0" sz="1200" u="none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" name="Google Shape;138;p3"/>
          <p:cNvSpPr txBox="1"/>
          <p:nvPr/>
        </p:nvSpPr>
        <p:spPr>
          <a:xfrm>
            <a:off x="8720551" y="2995514"/>
            <a:ext cx="228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Desarrollo KalliCode Portal: Pantallas del portal, sesión y RBAC de interfaz </a:t>
            </a:r>
            <a:endParaRPr sz="12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"/>
          <p:cNvSpPr txBox="1"/>
          <p:nvPr/>
        </p:nvSpPr>
        <p:spPr>
          <a:xfrm>
            <a:off x="6224018" y="4405548"/>
            <a:ext cx="2124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Desarrollo KalliCode Backend: Orquestador del pipeline, motor de modelos de lenguaje y APIs internas </a:t>
            </a:r>
            <a:endParaRPr sz="12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3"/>
          <p:cNvSpPr txBox="1"/>
          <p:nvPr/>
        </p:nvSpPr>
        <p:spPr>
          <a:xfrm>
            <a:off x="8772524" y="4366349"/>
            <a:ext cx="2190751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2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Desarrollo KalliCode Portal: Pantallas del portal, sesión y RBAC de interfaz </a:t>
            </a:r>
            <a:endParaRPr b="0" i="0" sz="1200" u="none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/>
          <p:cNvSpPr/>
          <p:nvPr/>
        </p:nvSpPr>
        <p:spPr>
          <a:xfrm>
            <a:off x="762000" y="1924050"/>
            <a:ext cx="5143500" cy="4324350"/>
          </a:xfrm>
          <a:prstGeom prst="roundRect">
            <a:avLst>
              <a:gd fmla="val 2643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6286500" y="1924050"/>
            <a:ext cx="5143500" cy="4324350"/>
          </a:xfrm>
          <a:prstGeom prst="roundRect">
            <a:avLst>
              <a:gd fmla="val 2643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762000" y="1924050"/>
            <a:ext cx="5143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6286500" y="1924050"/>
            <a:ext cx="5143500" cy="381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9" name="Google Shape;14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2343150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0" y="23431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3000" y="356235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3000" y="394335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3000" y="443865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3000" y="493395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67500" y="356235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67500" y="394335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67500" y="432435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67500" y="4819650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4"/>
          <p:cNvSpPr txBox="1"/>
          <p:nvPr/>
        </p:nvSpPr>
        <p:spPr>
          <a:xfrm>
            <a:off x="-285750" y="609600"/>
            <a:ext cx="127635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050" u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PROGRAMACIÓN E INDUSTRIA</a:t>
            </a:r>
            <a:endParaRPr/>
          </a:p>
        </p:txBody>
      </p:sp>
      <p:sp>
        <p:nvSpPr>
          <p:cNvPr id="160" name="Google Shape;160;p4"/>
          <p:cNvSpPr txBox="1"/>
          <p:nvPr/>
        </p:nvSpPr>
        <p:spPr>
          <a:xfrm>
            <a:off x="-285750" y="885825"/>
            <a:ext cx="12763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3600" u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Stack Tecnológico</a:t>
            </a:r>
            <a:endParaRPr/>
          </a:p>
        </p:txBody>
      </p:sp>
      <p:sp>
        <p:nvSpPr>
          <p:cNvPr id="161" name="Google Shape;161;p4"/>
          <p:cNvSpPr txBox="1"/>
          <p:nvPr/>
        </p:nvSpPr>
        <p:spPr>
          <a:xfrm>
            <a:off x="1143000" y="2952750"/>
            <a:ext cx="575071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2100" u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Portal (Frontend)</a:t>
            </a:r>
            <a:endParaRPr/>
          </a:p>
        </p:txBody>
      </p:sp>
      <p:sp>
        <p:nvSpPr>
          <p:cNvPr id="162" name="Google Shape;162;p4"/>
          <p:cNvSpPr txBox="1"/>
          <p:nvPr/>
        </p:nvSpPr>
        <p:spPr>
          <a:xfrm>
            <a:off x="6667500" y="2952750"/>
            <a:ext cx="5524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2100" u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Backend &amp; Workers</a:t>
            </a:r>
            <a:endParaRPr/>
          </a:p>
        </p:txBody>
      </p:sp>
      <p:sp>
        <p:nvSpPr>
          <p:cNvPr id="163" name="Google Shape;163;p4"/>
          <p:cNvSpPr txBox="1"/>
          <p:nvPr/>
        </p:nvSpPr>
        <p:spPr>
          <a:xfrm>
            <a:off x="1390650" y="3524250"/>
            <a:ext cx="4229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500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UI: React 18 + Vite (TypeScript estricto)</a:t>
            </a:r>
            <a:endParaRPr/>
          </a:p>
        </p:txBody>
      </p:sp>
      <p:sp>
        <p:nvSpPr>
          <p:cNvPr id="164" name="Google Shape;164;p4"/>
          <p:cNvSpPr txBox="1"/>
          <p:nvPr/>
        </p:nvSpPr>
        <p:spPr>
          <a:xfrm>
            <a:off x="1390650" y="3905250"/>
            <a:ext cx="4229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500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Estado: TanStack Query</a:t>
            </a:r>
            <a:endParaRPr/>
          </a:p>
        </p:txBody>
      </p:sp>
      <p:sp>
        <p:nvSpPr>
          <p:cNvPr id="165" name="Google Shape;165;p4"/>
          <p:cNvSpPr txBox="1"/>
          <p:nvPr/>
        </p:nvSpPr>
        <p:spPr>
          <a:xfrm>
            <a:off x="1390650" y="4286250"/>
            <a:ext cx="4229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500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Contrato: Esquemas Zod y OpenAPI generados</a:t>
            </a:r>
            <a:endParaRPr/>
          </a:p>
        </p:txBody>
      </p:sp>
      <p:sp>
        <p:nvSpPr>
          <p:cNvPr id="166" name="Google Shape;166;p4"/>
          <p:cNvSpPr txBox="1"/>
          <p:nvPr/>
        </p:nvSpPr>
        <p:spPr>
          <a:xfrm>
            <a:off x="1390650" y="4895850"/>
            <a:ext cx="4229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500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Calidad: ESLint, Prettier, Husky</a:t>
            </a:r>
            <a:endParaRPr/>
          </a:p>
        </p:txBody>
      </p:sp>
      <p:sp>
        <p:nvSpPr>
          <p:cNvPr id="167" name="Google Shape;167;p4"/>
          <p:cNvSpPr txBox="1"/>
          <p:nvPr/>
        </p:nvSpPr>
        <p:spPr>
          <a:xfrm>
            <a:off x="6915150" y="3524250"/>
            <a:ext cx="4229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500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API: FastAPI + Pydantic (Python 3.12, uv)</a:t>
            </a:r>
            <a:endParaRPr/>
          </a:p>
        </p:txBody>
      </p:sp>
      <p:sp>
        <p:nvSpPr>
          <p:cNvPr id="168" name="Google Shape;168;p4"/>
          <p:cNvSpPr txBox="1"/>
          <p:nvPr/>
        </p:nvSpPr>
        <p:spPr>
          <a:xfrm>
            <a:off x="6915150" y="3905250"/>
            <a:ext cx="4229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500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Persistencia: PostgreSQL 16 + pgvector</a:t>
            </a:r>
            <a:endParaRPr/>
          </a:p>
        </p:txBody>
      </p:sp>
      <p:sp>
        <p:nvSpPr>
          <p:cNvPr id="169" name="Google Shape;169;p4"/>
          <p:cNvSpPr txBox="1"/>
          <p:nvPr/>
        </p:nvSpPr>
        <p:spPr>
          <a:xfrm>
            <a:off x="6915150" y="4286250"/>
            <a:ext cx="4229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500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Colas: Redis Streams (at-least-once)</a:t>
            </a:r>
            <a:endParaRPr/>
          </a:p>
        </p:txBody>
      </p:sp>
      <p:sp>
        <p:nvSpPr>
          <p:cNvPr id="170" name="Google Shape;170;p4"/>
          <p:cNvSpPr txBox="1"/>
          <p:nvPr/>
        </p:nvSpPr>
        <p:spPr>
          <a:xfrm>
            <a:off x="6915150" y="4667250"/>
            <a:ext cx="4229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500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Seguridad: Argon2id, JWT RS256, Azure Key Vault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"/>
          <p:cNvSpPr/>
          <p:nvPr/>
        </p:nvSpPr>
        <p:spPr>
          <a:xfrm>
            <a:off x="762000" y="1333500"/>
            <a:ext cx="10668000" cy="514350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 txBox="1"/>
          <p:nvPr/>
        </p:nvSpPr>
        <p:spPr>
          <a:xfrm>
            <a:off x="-285750" y="381000"/>
            <a:ext cx="127635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050" u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DIAGRAMA GENERAL</a:t>
            </a:r>
            <a:endParaRPr/>
          </a:p>
        </p:txBody>
      </p:sp>
      <p:sp>
        <p:nvSpPr>
          <p:cNvPr id="177" name="Google Shape;177;p5"/>
          <p:cNvSpPr txBox="1"/>
          <p:nvPr/>
        </p:nvSpPr>
        <p:spPr>
          <a:xfrm>
            <a:off x="-285750" y="619125"/>
            <a:ext cx="127635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3000" u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Arquitectura KalliCode</a:t>
            </a:r>
            <a:endParaRPr/>
          </a:p>
        </p:txBody>
      </p:sp>
      <p:pic>
        <p:nvPicPr>
          <p:cNvPr id="178" name="Google Shape;17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781" y="1112274"/>
            <a:ext cx="11964436" cy="5159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"/>
          <p:cNvSpPr/>
          <p:nvPr/>
        </p:nvSpPr>
        <p:spPr>
          <a:xfrm>
            <a:off x="762000" y="2085975"/>
            <a:ext cx="10668000" cy="1181100"/>
          </a:xfrm>
          <a:prstGeom prst="roundRect">
            <a:avLst>
              <a:gd fmla="val 967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762000" y="3495675"/>
            <a:ext cx="10668000" cy="1181100"/>
          </a:xfrm>
          <a:prstGeom prst="roundRect">
            <a:avLst>
              <a:gd fmla="val 967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762000" y="4905375"/>
            <a:ext cx="10668000" cy="1181100"/>
          </a:xfrm>
          <a:prstGeom prst="roundRect">
            <a:avLst>
              <a:gd fmla="val 967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6" name="Google Shape;18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200" y="2524125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19200" y="3933825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19200" y="5343525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6"/>
          <p:cNvSpPr txBox="1"/>
          <p:nvPr/>
        </p:nvSpPr>
        <p:spPr>
          <a:xfrm>
            <a:off x="762000" y="609600"/>
            <a:ext cx="11430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050" u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PERSISTENCIA SEGURA</a:t>
            </a:r>
            <a:endParaRPr/>
          </a:p>
        </p:txBody>
      </p:sp>
      <p:sp>
        <p:nvSpPr>
          <p:cNvPr id="190" name="Google Shape;190;p6"/>
          <p:cNvSpPr txBox="1"/>
          <p:nvPr/>
        </p:nvSpPr>
        <p:spPr>
          <a:xfrm>
            <a:off x="762000" y="885825"/>
            <a:ext cx="114300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3600" u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Almacenamiento de Datos</a:t>
            </a:r>
            <a:endParaRPr/>
          </a:p>
        </p:txBody>
      </p:sp>
      <p:sp>
        <p:nvSpPr>
          <p:cNvPr id="191" name="Google Shape;191;p6"/>
          <p:cNvSpPr txBox="1"/>
          <p:nvPr/>
        </p:nvSpPr>
        <p:spPr>
          <a:xfrm>
            <a:off x="1981200" y="2390775"/>
            <a:ext cx="250031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800" u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PostgreSQL 16</a:t>
            </a:r>
            <a:endParaRPr/>
          </a:p>
        </p:txBody>
      </p:sp>
      <p:sp>
        <p:nvSpPr>
          <p:cNvPr id="192" name="Google Shape;192;p6"/>
          <p:cNvSpPr txBox="1"/>
          <p:nvPr/>
        </p:nvSpPr>
        <p:spPr>
          <a:xfrm>
            <a:off x="1981200" y="2762250"/>
            <a:ext cx="2381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350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Aislamiento RLS nativo.</a:t>
            </a:r>
            <a:endParaRPr/>
          </a:p>
        </p:txBody>
      </p:sp>
      <p:sp>
        <p:nvSpPr>
          <p:cNvPr id="193" name="Google Shape;193;p6"/>
          <p:cNvSpPr txBox="1"/>
          <p:nvPr/>
        </p:nvSpPr>
        <p:spPr>
          <a:xfrm>
            <a:off x="1981200" y="3800475"/>
            <a:ext cx="380047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800" u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Redis Streams</a:t>
            </a:r>
            <a:endParaRPr/>
          </a:p>
        </p:txBody>
      </p:sp>
      <p:sp>
        <p:nvSpPr>
          <p:cNvPr id="194" name="Google Shape;194;p6"/>
          <p:cNvSpPr txBox="1"/>
          <p:nvPr/>
        </p:nvSpPr>
        <p:spPr>
          <a:xfrm>
            <a:off x="1981200" y="4171950"/>
            <a:ext cx="3619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350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Colas con semántica at-least-once.</a:t>
            </a:r>
            <a:endParaRPr/>
          </a:p>
        </p:txBody>
      </p:sp>
      <p:sp>
        <p:nvSpPr>
          <p:cNvPr id="195" name="Google Shape;195;p6"/>
          <p:cNvSpPr txBox="1"/>
          <p:nvPr/>
        </p:nvSpPr>
        <p:spPr>
          <a:xfrm>
            <a:off x="1981200" y="5210175"/>
            <a:ext cx="415051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800" u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Auditoría</a:t>
            </a:r>
            <a:endParaRPr/>
          </a:p>
        </p:txBody>
      </p:sp>
      <p:sp>
        <p:nvSpPr>
          <p:cNvPr id="196" name="Google Shape;196;p6"/>
          <p:cNvSpPr txBox="1"/>
          <p:nvPr/>
        </p:nvSpPr>
        <p:spPr>
          <a:xfrm>
            <a:off x="1981200" y="5581650"/>
            <a:ext cx="39528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350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Sello inmutable con hash encadenado.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"/>
          <p:cNvSpPr/>
          <p:nvPr/>
        </p:nvSpPr>
        <p:spPr>
          <a:xfrm>
            <a:off x="762000" y="3362325"/>
            <a:ext cx="3352800" cy="1600200"/>
          </a:xfrm>
          <a:prstGeom prst="roundRect">
            <a:avLst>
              <a:gd fmla="val 9523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4457700" y="3322995"/>
            <a:ext cx="3352800" cy="1800225"/>
          </a:xfrm>
          <a:prstGeom prst="roundRect">
            <a:avLst>
              <a:gd fmla="val 8465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8077200" y="3362325"/>
            <a:ext cx="3352800" cy="1600200"/>
          </a:xfrm>
          <a:prstGeom prst="roundRect">
            <a:avLst>
              <a:gd fmla="val 9523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762000" y="3362325"/>
            <a:ext cx="3352800" cy="381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4457700" y="3322995"/>
            <a:ext cx="3352800" cy="381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8077200" y="3362325"/>
            <a:ext cx="33528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 txBox="1"/>
          <p:nvPr/>
        </p:nvSpPr>
        <p:spPr>
          <a:xfrm>
            <a:off x="-285750" y="609600"/>
            <a:ext cx="127635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050" u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EVIDENCIAS Y GESTIÓN</a:t>
            </a:r>
            <a:endParaRPr/>
          </a:p>
        </p:txBody>
      </p:sp>
      <p:sp>
        <p:nvSpPr>
          <p:cNvPr id="208" name="Google Shape;208;p7"/>
          <p:cNvSpPr txBox="1"/>
          <p:nvPr/>
        </p:nvSpPr>
        <p:spPr>
          <a:xfrm>
            <a:off x="-285750" y="885825"/>
            <a:ext cx="127635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3600" u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Estructura Git</a:t>
            </a:r>
            <a:endParaRPr/>
          </a:p>
        </p:txBody>
      </p:sp>
      <p:sp>
        <p:nvSpPr>
          <p:cNvPr id="209" name="Google Shape;209;p7"/>
          <p:cNvSpPr txBox="1"/>
          <p:nvPr/>
        </p:nvSpPr>
        <p:spPr>
          <a:xfrm>
            <a:off x="638175" y="3857625"/>
            <a:ext cx="36004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800" u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Repositorios</a:t>
            </a:r>
            <a:endParaRPr/>
          </a:p>
        </p:txBody>
      </p:sp>
      <p:sp>
        <p:nvSpPr>
          <p:cNvPr id="210" name="Google Shape;210;p7"/>
          <p:cNvSpPr txBox="1"/>
          <p:nvPr/>
        </p:nvSpPr>
        <p:spPr>
          <a:xfrm>
            <a:off x="723900" y="4305300"/>
            <a:ext cx="3429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350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Frontend y backend aislados.</a:t>
            </a:r>
            <a:endParaRPr/>
          </a:p>
        </p:txBody>
      </p:sp>
      <p:sp>
        <p:nvSpPr>
          <p:cNvPr id="211" name="Google Shape;211;p7"/>
          <p:cNvSpPr txBox="1"/>
          <p:nvPr/>
        </p:nvSpPr>
        <p:spPr>
          <a:xfrm>
            <a:off x="4295775" y="3757612"/>
            <a:ext cx="36004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800" u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Integración CI</a:t>
            </a:r>
            <a:endParaRPr/>
          </a:p>
        </p:txBody>
      </p:sp>
      <p:sp>
        <p:nvSpPr>
          <p:cNvPr id="212" name="Google Shape;212;p7"/>
          <p:cNvSpPr txBox="1"/>
          <p:nvPr/>
        </p:nvSpPr>
        <p:spPr>
          <a:xfrm>
            <a:off x="4419600" y="4265970"/>
            <a:ext cx="3429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350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Pruebas automáticas bloqueantes.</a:t>
            </a:r>
            <a:endParaRPr/>
          </a:p>
        </p:txBody>
      </p:sp>
      <p:sp>
        <p:nvSpPr>
          <p:cNvPr id="213" name="Google Shape;213;p7"/>
          <p:cNvSpPr txBox="1"/>
          <p:nvPr/>
        </p:nvSpPr>
        <p:spPr>
          <a:xfrm>
            <a:off x="7953375" y="3857625"/>
            <a:ext cx="36004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800" u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Documentación</a:t>
            </a:r>
            <a:endParaRPr/>
          </a:p>
        </p:txBody>
      </p:sp>
      <p:sp>
        <p:nvSpPr>
          <p:cNvPr id="214" name="Google Shape;214;p7"/>
          <p:cNvSpPr txBox="1"/>
          <p:nvPr/>
        </p:nvSpPr>
        <p:spPr>
          <a:xfrm>
            <a:off x="8039100" y="4305300"/>
            <a:ext cx="3429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350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Manuales versionados en Git.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8"/>
          <p:cNvSpPr/>
          <p:nvPr/>
        </p:nvSpPr>
        <p:spPr>
          <a:xfrm>
            <a:off x="762000" y="5781675"/>
            <a:ext cx="10668000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762000" y="5781675"/>
            <a:ext cx="106680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 txBox="1"/>
          <p:nvPr/>
        </p:nvSpPr>
        <p:spPr>
          <a:xfrm>
            <a:off x="762000" y="609600"/>
            <a:ext cx="11430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050" u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EQUIDAD Y TRABAJO EN EQUIPO</a:t>
            </a:r>
            <a:endParaRPr/>
          </a:p>
        </p:txBody>
      </p:sp>
      <p:sp>
        <p:nvSpPr>
          <p:cNvPr id="222" name="Google Shape;222;p8"/>
          <p:cNvSpPr txBox="1"/>
          <p:nvPr/>
        </p:nvSpPr>
        <p:spPr>
          <a:xfrm>
            <a:off x="762000" y="885825"/>
            <a:ext cx="114300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3600" u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Desempeño Consolidado</a:t>
            </a:r>
            <a:endParaRPr/>
          </a:p>
        </p:txBody>
      </p:sp>
      <p:sp>
        <p:nvSpPr>
          <p:cNvPr id="223" name="Google Shape;223;p8"/>
          <p:cNvSpPr txBox="1"/>
          <p:nvPr/>
        </p:nvSpPr>
        <p:spPr>
          <a:xfrm>
            <a:off x="-285750" y="6019800"/>
            <a:ext cx="12763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500" u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Participación equitativa verificada mediante repositorios.</a:t>
            </a:r>
            <a:endParaRPr/>
          </a:p>
        </p:txBody>
      </p:sp>
      <p:sp>
        <p:nvSpPr>
          <p:cNvPr id="224" name="Google Shape;224;p8"/>
          <p:cNvSpPr txBox="1"/>
          <p:nvPr/>
        </p:nvSpPr>
        <p:spPr>
          <a:xfrm>
            <a:off x="952500" y="3295650"/>
            <a:ext cx="2488406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6000" u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332</a:t>
            </a:r>
            <a:endParaRPr/>
          </a:p>
        </p:txBody>
      </p:sp>
      <p:sp>
        <p:nvSpPr>
          <p:cNvPr id="225" name="Google Shape;225;p8"/>
          <p:cNvSpPr txBox="1"/>
          <p:nvPr/>
        </p:nvSpPr>
        <p:spPr>
          <a:xfrm>
            <a:off x="952500" y="4133850"/>
            <a:ext cx="248840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350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SP Backend ejecutados.</a:t>
            </a:r>
            <a:endParaRPr/>
          </a:p>
        </p:txBody>
      </p:sp>
      <p:sp>
        <p:nvSpPr>
          <p:cNvPr id="226" name="Google Shape;226;p8"/>
          <p:cNvSpPr txBox="1"/>
          <p:nvPr/>
        </p:nvSpPr>
        <p:spPr>
          <a:xfrm>
            <a:off x="5067300" y="3295650"/>
            <a:ext cx="21907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6000" u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336</a:t>
            </a:r>
            <a:endParaRPr/>
          </a:p>
        </p:txBody>
      </p:sp>
      <p:sp>
        <p:nvSpPr>
          <p:cNvPr id="227" name="Google Shape;227;p8"/>
          <p:cNvSpPr txBox="1"/>
          <p:nvPr/>
        </p:nvSpPr>
        <p:spPr>
          <a:xfrm>
            <a:off x="5067300" y="4133850"/>
            <a:ext cx="21907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350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SP Portal ejecutados.</a:t>
            </a:r>
            <a:endParaRPr/>
          </a:p>
        </p:txBody>
      </p:sp>
      <p:sp>
        <p:nvSpPr>
          <p:cNvPr id="228" name="Google Shape;228;p8"/>
          <p:cNvSpPr txBox="1"/>
          <p:nvPr/>
        </p:nvSpPr>
        <p:spPr>
          <a:xfrm>
            <a:off x="8943975" y="3295650"/>
            <a:ext cx="2869406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6000" u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4</a:t>
            </a:r>
            <a:endParaRPr/>
          </a:p>
        </p:txBody>
      </p:sp>
      <p:sp>
        <p:nvSpPr>
          <p:cNvPr id="229" name="Google Shape;229;p8"/>
          <p:cNvSpPr txBox="1"/>
          <p:nvPr/>
        </p:nvSpPr>
        <p:spPr>
          <a:xfrm>
            <a:off x="8943975" y="4133850"/>
            <a:ext cx="286940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350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Roles transversales activos.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"/>
          <p:cNvSpPr txBox="1"/>
          <p:nvPr/>
        </p:nvSpPr>
        <p:spPr>
          <a:xfrm>
            <a:off x="-285750" y="609600"/>
            <a:ext cx="127635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050" u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PLANIFICACIÓN Y PROGRESO</a:t>
            </a:r>
            <a:endParaRPr/>
          </a:p>
        </p:txBody>
      </p:sp>
      <p:sp>
        <p:nvSpPr>
          <p:cNvPr id="235" name="Google Shape;235;p9"/>
          <p:cNvSpPr txBox="1"/>
          <p:nvPr/>
        </p:nvSpPr>
        <p:spPr>
          <a:xfrm>
            <a:off x="-285750" y="847725"/>
            <a:ext cx="127635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3000" u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Carta Gantt - Sprints 1 a 12</a:t>
            </a:r>
            <a:endParaRPr/>
          </a:p>
        </p:txBody>
      </p:sp>
      <p:graphicFrame>
        <p:nvGraphicFramePr>
          <p:cNvPr id="236" name="Google Shape;236;p9"/>
          <p:cNvGraphicFramePr/>
          <p:nvPr/>
        </p:nvGraphicFramePr>
        <p:xfrm>
          <a:off x="117988" y="14096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{50314508-C62A-4D3F-B759-CC8EE53C0710}</a:tableStyleId>
              </a:tblPr>
              <a:tblGrid>
                <a:gridCol w="1944725"/>
                <a:gridCol w="833450"/>
                <a:gridCol w="833450"/>
                <a:gridCol w="833450"/>
                <a:gridCol w="833450"/>
                <a:gridCol w="833450"/>
                <a:gridCol w="833450"/>
                <a:gridCol w="833450"/>
                <a:gridCol w="833450"/>
                <a:gridCol w="833450"/>
                <a:gridCol w="833450"/>
                <a:gridCol w="833450"/>
                <a:gridCol w="833450"/>
              </a:tblGrid>
              <a:tr h="534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i="0" lang="es-CL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/ Tarea</a:t>
                      </a:r>
                      <a:endParaRPr/>
                    </a:p>
                  </a:txBody>
                  <a:tcPr marT="4250" marB="0" marR="4250" marL="42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i="0" lang="es-CL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S1</a:t>
                      </a:r>
                      <a:endParaRPr/>
                    </a:p>
                  </a:txBody>
                  <a:tcPr marT="4250" marB="0" marR="4250" marL="42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i="0" lang="es-CL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S2</a:t>
                      </a:r>
                      <a:endParaRPr/>
                    </a:p>
                  </a:txBody>
                  <a:tcPr marT="4250" marB="0" marR="4250" marL="42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i="0" lang="es-CL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S3</a:t>
                      </a:r>
                      <a:endParaRPr/>
                    </a:p>
                  </a:txBody>
                  <a:tcPr marT="4250" marB="0" marR="4250" marL="42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i="0" lang="es-CL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S4</a:t>
                      </a:r>
                      <a:endParaRPr/>
                    </a:p>
                  </a:txBody>
                  <a:tcPr marT="4250" marB="0" marR="4250" marL="42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i="0" lang="es-CL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S5</a:t>
                      </a:r>
                      <a:endParaRPr/>
                    </a:p>
                  </a:txBody>
                  <a:tcPr marT="4250" marB="0" marR="4250" marL="42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i="0" lang="es-CL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S6</a:t>
                      </a:r>
                      <a:br>
                        <a:rPr b="1" i="0" lang="es-CL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i="0" lang="es-CL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(Estamos aquí)</a:t>
                      </a:r>
                      <a:endParaRPr/>
                    </a:p>
                  </a:txBody>
                  <a:tcPr marT="4250" marB="0" marR="4250" marL="42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i="0" lang="es-CL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S7</a:t>
                      </a:r>
                      <a:endParaRPr/>
                    </a:p>
                  </a:txBody>
                  <a:tcPr marT="4250" marB="0" marR="4250" marL="42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i="0" lang="es-CL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S8</a:t>
                      </a:r>
                      <a:endParaRPr/>
                    </a:p>
                  </a:txBody>
                  <a:tcPr marT="4250" marB="0" marR="4250" marL="42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i="0" lang="es-CL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S9</a:t>
                      </a:r>
                      <a:endParaRPr/>
                    </a:p>
                  </a:txBody>
                  <a:tcPr marT="4250" marB="0" marR="4250" marL="42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i="0" lang="es-CL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S10</a:t>
                      </a:r>
                      <a:endParaRPr/>
                    </a:p>
                  </a:txBody>
                  <a:tcPr marT="4250" marB="0" marR="4250" marL="42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i="0" lang="es-CL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S11</a:t>
                      </a:r>
                      <a:endParaRPr/>
                    </a:p>
                  </a:txBody>
                  <a:tcPr marT="4250" marB="0" marR="4250" marL="42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i="0" lang="es-CL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S12</a:t>
                      </a:r>
                      <a:endParaRPr/>
                    </a:p>
                  </a:txBody>
                  <a:tcPr marT="4250" marB="0" marR="4250" marL="42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8"/>
                    </a:solidFill>
                  </a:tcPr>
                </a:tc>
              </a:tr>
              <a:tr h="25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i="0" lang="es-CL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i="0" lang="es-CL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 sep - 18 sep</a:t>
                      </a:r>
                      <a:endParaRPr/>
                    </a:p>
                  </a:txBody>
                  <a:tcPr marT="4250" marB="0" marR="4250" marL="42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i="0" lang="es-CL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 sep - 25 sep</a:t>
                      </a:r>
                      <a:endParaRPr/>
                    </a:p>
                  </a:txBody>
                  <a:tcPr marT="4250" marB="0" marR="4250" marL="42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i="0" lang="es-CL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 sep - 2 oct</a:t>
                      </a:r>
                      <a:endParaRPr/>
                    </a:p>
                  </a:txBody>
                  <a:tcPr marT="4250" marB="0" marR="4250" marL="42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i="0" lang="es-CL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 oct - 9 oct</a:t>
                      </a:r>
                      <a:endParaRPr/>
                    </a:p>
                  </a:txBody>
                  <a:tcPr marT="4250" marB="0" marR="4250" marL="42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i="0" lang="es-CL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 oct - 16 oct</a:t>
                      </a:r>
                      <a:endParaRPr/>
                    </a:p>
                  </a:txBody>
                  <a:tcPr marT="4250" marB="0" marR="4250" marL="42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i="0" lang="es-CL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 oct - 23 oct</a:t>
                      </a:r>
                      <a:endParaRPr/>
                    </a:p>
                  </a:txBody>
                  <a:tcPr marT="4250" marB="0" marR="4250" marL="42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i="0" lang="es-CL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 oct - 30 oct</a:t>
                      </a:r>
                      <a:endParaRPr/>
                    </a:p>
                  </a:txBody>
                  <a:tcPr marT="4250" marB="0" marR="4250" marL="42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i="0" lang="es-CL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 nov - 6 nov</a:t>
                      </a:r>
                      <a:endParaRPr/>
                    </a:p>
                  </a:txBody>
                  <a:tcPr marT="4250" marB="0" marR="4250" marL="42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i="0" lang="es-CL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 nov - 13 nov</a:t>
                      </a:r>
                      <a:endParaRPr/>
                    </a:p>
                  </a:txBody>
                  <a:tcPr marT="4250" marB="0" marR="4250" marL="42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i="0" lang="es-CL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 nov - 20 nov</a:t>
                      </a:r>
                      <a:endParaRPr/>
                    </a:p>
                  </a:txBody>
                  <a:tcPr marT="4250" marB="0" marR="4250" marL="42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i="0" lang="es-CL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 nov - 27 nov</a:t>
                      </a:r>
                      <a:endParaRPr/>
                    </a:p>
                  </a:txBody>
                  <a:tcPr marT="4250" marB="0" marR="4250" marL="42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i="0" lang="es-CL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 nov - 4 dic</a:t>
                      </a:r>
                      <a:endParaRPr/>
                    </a:p>
                  </a:txBody>
                  <a:tcPr marT="4250" marB="0" marR="4250" marL="42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8"/>
                    </a:solidFill>
                  </a:tcPr>
                </a:tc>
              </a:tr>
              <a:tr h="256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i="0" lang="es-CL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Hitos del programa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i="0" lang="es-CL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000"/>
                        <a:buFont typeface="Calibri"/>
                        <a:buNone/>
                      </a:pPr>
                      <a:r>
                        <a:rPr b="1" i="0" lang="es-CL" sz="1000" u="none" cap="none" strike="noStrike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◆ M1</a:t>
                      </a:r>
                      <a:endParaRPr/>
                    </a:p>
                  </a:txBody>
                  <a:tcPr marT="4250" marB="0" marR="4250" marL="42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i="0" lang="es-CL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000"/>
                        <a:buFont typeface="Calibri"/>
                        <a:buNone/>
                      </a:pPr>
                      <a:r>
                        <a:rPr b="1" i="0" lang="es-CL" sz="1000" u="none" cap="none" strike="noStrike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◆ M2</a:t>
                      </a:r>
                      <a:endParaRPr/>
                    </a:p>
                  </a:txBody>
                  <a:tcPr marT="4250" marB="0" marR="4250" marL="42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i="0" lang="es-CL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000"/>
                        <a:buFont typeface="Calibri"/>
                        <a:buNone/>
                      </a:pPr>
                      <a:r>
                        <a:rPr b="1" i="0" lang="es-CL" sz="1000" u="none" cap="none" strike="noStrike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◆ M3</a:t>
                      </a:r>
                      <a:endParaRPr/>
                    </a:p>
                  </a:txBody>
                  <a:tcPr marT="4250" marB="0" marR="4250" marL="42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i="0" lang="es-CL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000"/>
                        <a:buFont typeface="Calibri"/>
                        <a:buNone/>
                      </a:pPr>
                      <a:r>
                        <a:rPr b="1" i="0" lang="es-CL" sz="1000" u="none" cap="none" strike="noStrike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◆ M4</a:t>
                      </a:r>
                      <a:endParaRPr/>
                    </a:p>
                  </a:txBody>
                  <a:tcPr marT="4250" marB="0" marR="4250" marL="42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i="0" lang="es-CL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000"/>
                        <a:buFont typeface="Calibri"/>
                        <a:buNone/>
                      </a:pPr>
                      <a:r>
                        <a:rPr b="1" i="0" lang="es-CL" sz="1000" u="none" cap="none" strike="noStrike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◆ M5</a:t>
                      </a:r>
                      <a:endParaRPr/>
                    </a:p>
                  </a:txBody>
                  <a:tcPr marT="4250" marB="0" marR="4250" marL="42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i="0" lang="es-CL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000"/>
                        <a:buFont typeface="Calibri"/>
                        <a:buNone/>
                      </a:pPr>
                      <a:r>
                        <a:rPr b="1" i="0" lang="es-CL" sz="1000" u="none" cap="none" strike="noStrike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◆ M6</a:t>
                      </a:r>
                      <a:endParaRPr/>
                    </a:p>
                  </a:txBody>
                  <a:tcPr marT="4250" marB="0" marR="4250" marL="42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4D6"/>
                    </a:solidFill>
                  </a:tcPr>
                </a:tc>
              </a:tr>
              <a:tr h="256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i="0" lang="es-CL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Correcciones y base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  <a:tr h="256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i="0" lang="es-CL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Herramientas, pruebas y CI</a:t>
                      </a:r>
                      <a:endParaRPr/>
                    </a:p>
                  </a:txBody>
                  <a:tcPr marT="4250" marB="0" marR="4250" marL="42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i="0" lang="es-CL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Sesión y seguridad del cliente</a:t>
                      </a:r>
                      <a:endParaRPr/>
                    </a:p>
                  </a:txBody>
                  <a:tcPr marT="4250" marB="0" marR="4250" marL="42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i="0" lang="es-CL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RBAC de interfaz</a:t>
                      </a:r>
                      <a:endParaRPr/>
                    </a:p>
                  </a:txBody>
                  <a:tcPr marT="4250" marB="0" marR="4250" marL="42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i="0" lang="es-CL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Capa de datos y contrato</a:t>
                      </a:r>
                      <a:endParaRPr/>
                    </a:p>
                  </a:txBody>
                  <a:tcPr marT="4250" marB="0" marR="4250" marL="42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i="0" lang="es-CL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Adjuntos y evidencia</a:t>
                      </a:r>
                      <a:endParaRPr/>
                    </a:p>
                  </a:txBody>
                  <a:tcPr marT="4250" marB="0" marR="4250" marL="42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i="0" lang="es-CL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Responsive y accesibilidad</a:t>
                      </a:r>
                      <a:endParaRPr/>
                    </a:p>
                  </a:txBody>
                  <a:tcPr marT="4250" marB="0" marR="4250" marL="42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i="0" lang="es-CL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Pantallas pendientes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  <a:tr h="256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i="0" lang="es-CL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Notificaciones y firmas</a:t>
                      </a:r>
                      <a:endParaRPr/>
                    </a:p>
                  </a:txBody>
                  <a:tcPr marT="4250" marB="0" marR="4250" marL="42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i="0" lang="es-CL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Onboarding y conexiones</a:t>
                      </a:r>
                      <a:endParaRPr/>
                    </a:p>
                  </a:txBody>
                  <a:tcPr marT="4250" marB="0" marR="4250" marL="42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i="0" lang="es-CL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Expediente completo</a:t>
                      </a:r>
                      <a:endParaRPr/>
                    </a:p>
                  </a:txBody>
                  <a:tcPr marT="4250" marB="0" marR="4250" marL="42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i="0" lang="es-CL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Planes y consumo</a:t>
                      </a:r>
                      <a:endParaRPr/>
                    </a:p>
                  </a:txBody>
                  <a:tcPr marT="4250" marB="0" marR="4250" marL="42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i="0" lang="es-CL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i18n, perfil e invitaciones</a:t>
                      </a:r>
                      <a:endParaRPr/>
                    </a:p>
                  </a:txBody>
                  <a:tcPr marT="4250" marB="0" marR="4250" marL="42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i="0" lang="es-CL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Cierre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  <a:tr h="256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i="0" lang="es-CL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Rendimiento y telemetría</a:t>
                      </a:r>
                      <a:endParaRPr/>
                    </a:p>
                  </a:txBody>
                  <a:tcPr marT="4250" marB="0" marR="4250" marL="42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0" i="0" lang="es-CL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UAT, guías y release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250" marB="0" marR="4250" marL="42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alibri"/>
                        <a:buNone/>
                      </a:pPr>
                      <a:r>
                        <a:rPr b="0" i="0" lang="es-CL" sz="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4250" marB="0" marR="4250" marL="42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7D3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0"/>
          <p:cNvSpPr txBox="1"/>
          <p:nvPr/>
        </p:nvSpPr>
        <p:spPr>
          <a:xfrm>
            <a:off x="2684251" y="2755563"/>
            <a:ext cx="6823500" cy="15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4800" u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Gracias por su atención.</a:t>
            </a:r>
            <a:endParaRPr b="1" i="0" sz="4800" u="none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3038815" y="2160946"/>
            <a:ext cx="6114367" cy="18771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3038816" y="4540115"/>
            <a:ext cx="6114300" cy="187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